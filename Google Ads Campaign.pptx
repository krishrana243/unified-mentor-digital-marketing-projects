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eague Spartan" charset="1" panose="00000800000000000000"/>
      <p:regular r:id="rId16"/>
    </p:embeddedFont>
    <p:embeddedFont>
      <p:font typeface="Quicksand Bold"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921192" y="-2091345"/>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grpSp>
        <p:nvGrpSpPr>
          <p:cNvPr name="Group 5" id="5"/>
          <p:cNvGrpSpPr/>
          <p:nvPr/>
        </p:nvGrpSpPr>
        <p:grpSpPr>
          <a:xfrm rot="0">
            <a:off x="-1613340" y="437732"/>
            <a:ext cx="8774811" cy="8774811"/>
            <a:chOff x="0" y="0"/>
            <a:chExt cx="812800" cy="812800"/>
          </a:xfrm>
        </p:grpSpPr>
        <p:sp>
          <p:nvSpPr>
            <p:cNvPr name="Freeform 6" id="6"/>
            <p:cNvSpPr/>
            <p:nvPr/>
          </p:nvSpPr>
          <p:spPr>
            <a:xfrm flipH="false" flipV="false" rot="0">
              <a:off x="16446" y="16446"/>
              <a:ext cx="779909" cy="779909"/>
            </a:xfrm>
            <a:custGeom>
              <a:avLst/>
              <a:gdLst/>
              <a:ahLst/>
              <a:cxnLst/>
              <a:rect r="r" b="b" t="t" l="l"/>
              <a:pathLst>
                <a:path h="779909" w="779909">
                  <a:moveTo>
                    <a:pt x="418028" y="11628"/>
                  </a:moveTo>
                  <a:lnTo>
                    <a:pt x="768280" y="361880"/>
                  </a:lnTo>
                  <a:cubicBezTo>
                    <a:pt x="775726" y="369325"/>
                    <a:pt x="779908" y="379424"/>
                    <a:pt x="779908" y="389954"/>
                  </a:cubicBezTo>
                  <a:cubicBezTo>
                    <a:pt x="779908" y="400484"/>
                    <a:pt x="775726" y="410582"/>
                    <a:pt x="768280" y="418028"/>
                  </a:cubicBezTo>
                  <a:lnTo>
                    <a:pt x="418028" y="768280"/>
                  </a:lnTo>
                  <a:cubicBezTo>
                    <a:pt x="410582" y="775726"/>
                    <a:pt x="400484" y="779908"/>
                    <a:pt x="389954" y="779908"/>
                  </a:cubicBezTo>
                  <a:cubicBezTo>
                    <a:pt x="379424" y="779908"/>
                    <a:pt x="369325" y="775726"/>
                    <a:pt x="361880" y="768280"/>
                  </a:cubicBezTo>
                  <a:lnTo>
                    <a:pt x="11628" y="418028"/>
                  </a:lnTo>
                  <a:cubicBezTo>
                    <a:pt x="4183" y="410582"/>
                    <a:pt x="0" y="400484"/>
                    <a:pt x="0" y="389954"/>
                  </a:cubicBezTo>
                  <a:cubicBezTo>
                    <a:pt x="0" y="379424"/>
                    <a:pt x="4183" y="369325"/>
                    <a:pt x="11628" y="361880"/>
                  </a:cubicBezTo>
                  <a:lnTo>
                    <a:pt x="361880" y="11628"/>
                  </a:lnTo>
                  <a:cubicBezTo>
                    <a:pt x="369325" y="4183"/>
                    <a:pt x="379424" y="0"/>
                    <a:pt x="389954" y="0"/>
                  </a:cubicBezTo>
                  <a:cubicBezTo>
                    <a:pt x="400484" y="0"/>
                    <a:pt x="410582" y="4183"/>
                    <a:pt x="418028" y="11628"/>
                  </a:cubicBezTo>
                  <a:close/>
                </a:path>
              </a:pathLst>
            </a:custGeom>
            <a:blipFill>
              <a:blip r:embed="rId2"/>
              <a:stretch>
                <a:fillRect l="-28211" t="-2108" r="-28211" b="-2108"/>
              </a:stretch>
            </a:blipFill>
            <a:ln w="180975" cap="rnd">
              <a:solidFill>
                <a:srgbClr val="009954"/>
              </a:solidFill>
              <a:prstDash val="solid"/>
              <a:round/>
            </a:ln>
          </p:spPr>
        </p:sp>
      </p:grpSp>
      <p:grpSp>
        <p:nvGrpSpPr>
          <p:cNvPr name="Group 7" id="7"/>
          <p:cNvGrpSpPr/>
          <p:nvPr/>
        </p:nvGrpSpPr>
        <p:grpSpPr>
          <a:xfrm rot="0">
            <a:off x="3303462" y="6623917"/>
            <a:ext cx="5177254" cy="5177254"/>
            <a:chOff x="0" y="0"/>
            <a:chExt cx="812800" cy="812800"/>
          </a:xfrm>
        </p:grpSpPr>
        <p:sp>
          <p:nvSpPr>
            <p:cNvPr name="Freeform 8" id="8"/>
            <p:cNvSpPr/>
            <p:nvPr/>
          </p:nvSpPr>
          <p:spPr>
            <a:xfrm flipH="false" flipV="false" rot="0">
              <a:off x="27873" y="27873"/>
              <a:ext cx="757054" cy="757054"/>
            </a:xfrm>
            <a:custGeom>
              <a:avLst/>
              <a:gdLst/>
              <a:ahLst/>
              <a:cxnLst/>
              <a:rect r="r" b="b" t="t" l="l"/>
              <a:pathLst>
                <a:path h="757054" w="757054">
                  <a:moveTo>
                    <a:pt x="426109" y="19709"/>
                  </a:moveTo>
                  <a:lnTo>
                    <a:pt x="737345" y="330945"/>
                  </a:lnTo>
                  <a:cubicBezTo>
                    <a:pt x="749964" y="343564"/>
                    <a:pt x="757054" y="360680"/>
                    <a:pt x="757054" y="378527"/>
                  </a:cubicBezTo>
                  <a:cubicBezTo>
                    <a:pt x="757054" y="396374"/>
                    <a:pt x="749964" y="413490"/>
                    <a:pt x="737345" y="426109"/>
                  </a:cubicBezTo>
                  <a:lnTo>
                    <a:pt x="426109" y="737345"/>
                  </a:lnTo>
                  <a:cubicBezTo>
                    <a:pt x="413490" y="749964"/>
                    <a:pt x="396374" y="757054"/>
                    <a:pt x="378527" y="757054"/>
                  </a:cubicBezTo>
                  <a:cubicBezTo>
                    <a:pt x="360680" y="757054"/>
                    <a:pt x="343564" y="749964"/>
                    <a:pt x="330945" y="737345"/>
                  </a:cubicBezTo>
                  <a:lnTo>
                    <a:pt x="19709" y="426109"/>
                  </a:lnTo>
                  <a:cubicBezTo>
                    <a:pt x="7090" y="413490"/>
                    <a:pt x="0" y="396374"/>
                    <a:pt x="0" y="378527"/>
                  </a:cubicBezTo>
                  <a:cubicBezTo>
                    <a:pt x="0" y="360680"/>
                    <a:pt x="7090" y="343564"/>
                    <a:pt x="19709" y="330945"/>
                  </a:cubicBezTo>
                  <a:lnTo>
                    <a:pt x="330945" y="19709"/>
                  </a:lnTo>
                  <a:cubicBezTo>
                    <a:pt x="343564" y="7090"/>
                    <a:pt x="360680" y="0"/>
                    <a:pt x="378527" y="0"/>
                  </a:cubicBezTo>
                  <a:cubicBezTo>
                    <a:pt x="396374" y="0"/>
                    <a:pt x="413490" y="7090"/>
                    <a:pt x="426109" y="19709"/>
                  </a:cubicBezTo>
                  <a:close/>
                </a:path>
              </a:pathLst>
            </a:custGeom>
            <a:blipFill>
              <a:blip r:embed="rId3"/>
              <a:stretch>
                <a:fillRect l="-25827" t="-519" r="-25827" b="-519"/>
              </a:stretch>
            </a:blipFill>
            <a:ln w="180975" cap="rnd">
              <a:solidFill>
                <a:srgbClr val="009954"/>
              </a:solidFill>
              <a:prstDash val="solid"/>
              <a:round/>
            </a:ln>
          </p:spPr>
        </p:sp>
      </p:grpSp>
      <p:grpSp>
        <p:nvGrpSpPr>
          <p:cNvPr name="Group 9" id="9"/>
          <p:cNvGrpSpPr/>
          <p:nvPr/>
        </p:nvGrpSpPr>
        <p:grpSpPr>
          <a:xfrm rot="0">
            <a:off x="-2111350" y="7521065"/>
            <a:ext cx="5177254" cy="5177254"/>
            <a:chOff x="0" y="0"/>
            <a:chExt cx="812800" cy="812800"/>
          </a:xfrm>
        </p:grpSpPr>
        <p:sp>
          <p:nvSpPr>
            <p:cNvPr name="Freeform 10" id="10"/>
            <p:cNvSpPr/>
            <p:nvPr/>
          </p:nvSpPr>
          <p:spPr>
            <a:xfrm flipH="false" flipV="false" rot="0">
              <a:off x="27873" y="27873"/>
              <a:ext cx="757054" cy="757054"/>
            </a:xfrm>
            <a:custGeom>
              <a:avLst/>
              <a:gdLst/>
              <a:ahLst/>
              <a:cxnLst/>
              <a:rect r="r" b="b" t="t" l="l"/>
              <a:pathLst>
                <a:path h="757054" w="757054">
                  <a:moveTo>
                    <a:pt x="426109" y="19709"/>
                  </a:moveTo>
                  <a:lnTo>
                    <a:pt x="737345" y="330945"/>
                  </a:lnTo>
                  <a:cubicBezTo>
                    <a:pt x="749964" y="343564"/>
                    <a:pt x="757054" y="360680"/>
                    <a:pt x="757054" y="378527"/>
                  </a:cubicBezTo>
                  <a:cubicBezTo>
                    <a:pt x="757054" y="396374"/>
                    <a:pt x="749964" y="413490"/>
                    <a:pt x="737345" y="426109"/>
                  </a:cubicBezTo>
                  <a:lnTo>
                    <a:pt x="426109" y="737345"/>
                  </a:lnTo>
                  <a:cubicBezTo>
                    <a:pt x="413490" y="749964"/>
                    <a:pt x="396374" y="757054"/>
                    <a:pt x="378527" y="757054"/>
                  </a:cubicBezTo>
                  <a:cubicBezTo>
                    <a:pt x="360680" y="757054"/>
                    <a:pt x="343564" y="749964"/>
                    <a:pt x="330945" y="737345"/>
                  </a:cubicBezTo>
                  <a:lnTo>
                    <a:pt x="19709" y="426109"/>
                  </a:lnTo>
                  <a:cubicBezTo>
                    <a:pt x="7090" y="413490"/>
                    <a:pt x="0" y="396374"/>
                    <a:pt x="0" y="378527"/>
                  </a:cubicBezTo>
                  <a:cubicBezTo>
                    <a:pt x="0" y="360680"/>
                    <a:pt x="7090" y="343564"/>
                    <a:pt x="19709" y="330945"/>
                  </a:cubicBezTo>
                  <a:lnTo>
                    <a:pt x="330945" y="19709"/>
                  </a:lnTo>
                  <a:cubicBezTo>
                    <a:pt x="343564" y="7090"/>
                    <a:pt x="360680" y="0"/>
                    <a:pt x="378527" y="0"/>
                  </a:cubicBezTo>
                  <a:cubicBezTo>
                    <a:pt x="396374" y="0"/>
                    <a:pt x="413490" y="7090"/>
                    <a:pt x="426109" y="19709"/>
                  </a:cubicBezTo>
                  <a:close/>
                </a:path>
              </a:pathLst>
            </a:custGeom>
            <a:blipFill>
              <a:blip r:embed="rId4"/>
              <a:stretch>
                <a:fillRect l="-25827" t="-519" r="-25827" b="-519"/>
              </a:stretch>
            </a:blipFill>
            <a:ln w="180975" cap="rnd">
              <a:solidFill>
                <a:srgbClr val="009954"/>
              </a:solidFill>
              <a:prstDash val="solid"/>
              <a:round/>
            </a:ln>
          </p:spPr>
        </p:sp>
      </p:grpSp>
      <p:grpSp>
        <p:nvGrpSpPr>
          <p:cNvPr name="Group 11" id="11"/>
          <p:cNvGrpSpPr/>
          <p:nvPr/>
        </p:nvGrpSpPr>
        <p:grpSpPr>
          <a:xfrm rot="0">
            <a:off x="8442975" y="5829901"/>
            <a:ext cx="2767419" cy="624424"/>
            <a:chOff x="0" y="0"/>
            <a:chExt cx="728868" cy="164457"/>
          </a:xfrm>
        </p:grpSpPr>
        <p:sp>
          <p:nvSpPr>
            <p:cNvPr name="Freeform 12" id="12"/>
            <p:cNvSpPr/>
            <p:nvPr/>
          </p:nvSpPr>
          <p:spPr>
            <a:xfrm flipH="false" flipV="false" rot="0">
              <a:off x="0" y="0"/>
              <a:ext cx="728868" cy="164457"/>
            </a:xfrm>
            <a:custGeom>
              <a:avLst/>
              <a:gdLst/>
              <a:ahLst/>
              <a:cxnLst/>
              <a:rect r="r" b="b" t="t" l="l"/>
              <a:pathLst>
                <a:path h="164457" w="728868">
                  <a:moveTo>
                    <a:pt x="82229" y="0"/>
                  </a:moveTo>
                  <a:lnTo>
                    <a:pt x="646639" y="0"/>
                  </a:lnTo>
                  <a:cubicBezTo>
                    <a:pt x="692053" y="0"/>
                    <a:pt x="728868" y="36815"/>
                    <a:pt x="728868" y="82229"/>
                  </a:cubicBezTo>
                  <a:lnTo>
                    <a:pt x="728868" y="82229"/>
                  </a:lnTo>
                  <a:cubicBezTo>
                    <a:pt x="728868" y="104037"/>
                    <a:pt x="720204" y="124952"/>
                    <a:pt x="704783" y="140373"/>
                  </a:cubicBezTo>
                  <a:cubicBezTo>
                    <a:pt x="689363" y="155794"/>
                    <a:pt x="668447" y="164457"/>
                    <a:pt x="646639" y="164457"/>
                  </a:cubicBezTo>
                  <a:lnTo>
                    <a:pt x="82229" y="164457"/>
                  </a:lnTo>
                  <a:cubicBezTo>
                    <a:pt x="36815" y="164457"/>
                    <a:pt x="0" y="127642"/>
                    <a:pt x="0" y="82229"/>
                  </a:cubicBezTo>
                  <a:lnTo>
                    <a:pt x="0" y="82229"/>
                  </a:lnTo>
                  <a:cubicBezTo>
                    <a:pt x="0" y="36815"/>
                    <a:pt x="36815" y="0"/>
                    <a:pt x="82229" y="0"/>
                  </a:cubicBezTo>
                  <a:close/>
                </a:path>
              </a:pathLst>
            </a:custGeom>
            <a:solidFill>
              <a:srgbClr val="009954"/>
            </a:solidFill>
          </p:spPr>
        </p:sp>
        <p:sp>
          <p:nvSpPr>
            <p:cNvPr name="TextBox 13" id="13"/>
            <p:cNvSpPr txBox="true"/>
            <p:nvPr/>
          </p:nvSpPr>
          <p:spPr>
            <a:xfrm>
              <a:off x="0" y="-38100"/>
              <a:ext cx="728868" cy="202557"/>
            </a:xfrm>
            <a:prstGeom prst="rect">
              <a:avLst/>
            </a:prstGeom>
          </p:spPr>
          <p:txBody>
            <a:bodyPr anchor="ctr" rtlCol="false" tIns="50800" lIns="50800" bIns="50800" rIns="50800"/>
            <a:lstStyle/>
            <a:p>
              <a:pPr algn="ctr">
                <a:lnSpc>
                  <a:spcPts val="2799"/>
                </a:lnSpc>
              </a:pPr>
            </a:p>
          </p:txBody>
        </p:sp>
      </p:grpSp>
      <p:sp>
        <p:nvSpPr>
          <p:cNvPr name="TextBox 14" id="14"/>
          <p:cNvSpPr txBox="true"/>
          <p:nvPr/>
        </p:nvSpPr>
        <p:spPr>
          <a:xfrm rot="0">
            <a:off x="8442975" y="3487538"/>
            <a:ext cx="8778584" cy="1655962"/>
          </a:xfrm>
          <a:prstGeom prst="rect">
            <a:avLst/>
          </a:prstGeom>
        </p:spPr>
        <p:txBody>
          <a:bodyPr anchor="t" rtlCol="false" tIns="0" lIns="0" bIns="0" rIns="0">
            <a:spAutoFit/>
          </a:bodyPr>
          <a:lstStyle/>
          <a:p>
            <a:pPr algn="l">
              <a:lnSpc>
                <a:spcPts val="12256"/>
              </a:lnSpc>
            </a:pPr>
            <a:r>
              <a:rPr lang="en-US" sz="12766" spc="-651">
                <a:solidFill>
                  <a:srgbClr val="FFFFFF"/>
                </a:solidFill>
                <a:latin typeface="League Spartan"/>
                <a:ea typeface="League Spartan"/>
                <a:cs typeface="League Spartan"/>
                <a:sym typeface="League Spartan"/>
              </a:rPr>
              <a:t>PROJECT </a:t>
            </a:r>
          </a:p>
        </p:txBody>
      </p:sp>
      <p:sp>
        <p:nvSpPr>
          <p:cNvPr name="TextBox 15" id="15"/>
          <p:cNvSpPr txBox="true"/>
          <p:nvPr/>
        </p:nvSpPr>
        <p:spPr>
          <a:xfrm rot="0">
            <a:off x="8518456" y="5105400"/>
            <a:ext cx="8778584" cy="348023"/>
          </a:xfrm>
          <a:prstGeom prst="rect">
            <a:avLst/>
          </a:prstGeom>
        </p:spPr>
        <p:txBody>
          <a:bodyPr anchor="t" rtlCol="false" tIns="0" lIns="0" bIns="0" rIns="0">
            <a:spAutoFit/>
          </a:bodyPr>
          <a:lstStyle/>
          <a:p>
            <a:pPr algn="l">
              <a:lnSpc>
                <a:spcPts val="2867"/>
              </a:lnSpc>
            </a:pPr>
            <a:r>
              <a:rPr lang="en-US" b="true" sz="2048" spc="256">
                <a:solidFill>
                  <a:srgbClr val="FFFFFF"/>
                </a:solidFill>
                <a:latin typeface="Quicksand Bold"/>
                <a:ea typeface="Quicksand Bold"/>
                <a:cs typeface="Quicksand Bold"/>
                <a:sym typeface="Quicksand Bold"/>
              </a:rPr>
              <a:t>GOOGLE ADS CAMPAIGN FOR AN IMAGINARY WEBSITE</a:t>
            </a:r>
          </a:p>
        </p:txBody>
      </p:sp>
      <p:sp>
        <p:nvSpPr>
          <p:cNvPr name="TextBox 16" id="16"/>
          <p:cNvSpPr txBox="true"/>
          <p:nvPr/>
        </p:nvSpPr>
        <p:spPr>
          <a:xfrm rot="0">
            <a:off x="8585538" y="5949052"/>
            <a:ext cx="2482293" cy="348023"/>
          </a:xfrm>
          <a:prstGeom prst="rect">
            <a:avLst/>
          </a:prstGeom>
        </p:spPr>
        <p:txBody>
          <a:bodyPr anchor="t" rtlCol="false" tIns="0" lIns="0" bIns="0" rIns="0">
            <a:spAutoFit/>
          </a:bodyPr>
          <a:lstStyle/>
          <a:p>
            <a:pPr algn="ctr">
              <a:lnSpc>
                <a:spcPts val="2867"/>
              </a:lnSpc>
            </a:pPr>
            <a:r>
              <a:rPr lang="en-US" b="true" sz="2048" spc="256">
                <a:solidFill>
                  <a:srgbClr val="FFFFFF"/>
                </a:solidFill>
                <a:latin typeface="Quicksand Bold"/>
                <a:ea typeface="Quicksand Bold"/>
                <a:cs typeface="Quicksand Bold"/>
                <a:sym typeface="Quicksand Bold"/>
              </a:rPr>
              <a:t>BY KRISH RANA</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84323"/>
            <a:ext cx="8765498" cy="1345992"/>
          </a:xfrm>
          <a:prstGeom prst="rect">
            <a:avLst/>
          </a:prstGeom>
        </p:spPr>
        <p:txBody>
          <a:bodyPr anchor="t" rtlCol="false" tIns="0" lIns="0" bIns="0" rIns="0">
            <a:spAutoFit/>
          </a:bodyPr>
          <a:lstStyle/>
          <a:p>
            <a:pPr algn="l">
              <a:lnSpc>
                <a:spcPts val="10463"/>
              </a:lnSpc>
            </a:pPr>
            <a:r>
              <a:rPr lang="en-US" sz="9426" spc="-480" b="true">
                <a:solidFill>
                  <a:srgbClr val="FFFFFF"/>
                </a:solidFill>
                <a:latin typeface="Quicksand Bold"/>
                <a:ea typeface="Quicksand Bold"/>
                <a:cs typeface="Quicksand Bold"/>
                <a:sym typeface="Quicksand Bold"/>
              </a:rPr>
              <a:t>Introduction</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1617797" y="4910646"/>
            <a:ext cx="11185812" cy="5114925"/>
          </a:xfrm>
          <a:prstGeom prst="rect">
            <a:avLst/>
          </a:prstGeom>
        </p:spPr>
        <p:txBody>
          <a:bodyPr anchor="t" rtlCol="false" tIns="0" lIns="0" bIns="0" rIns="0">
            <a:spAutoFit/>
          </a:bodyPr>
          <a:lstStyle/>
          <a:p>
            <a:pPr algn="l" marL="518160" indent="-259080" lvl="1">
              <a:lnSpc>
                <a:spcPts val="4079"/>
              </a:lnSpc>
              <a:buFont typeface="Arial"/>
              <a:buChar char="•"/>
            </a:pPr>
            <a:r>
              <a:rPr lang="en-US" b="true" sz="2400">
                <a:solidFill>
                  <a:srgbClr val="FFFFFF">
                    <a:alpha val="71765"/>
                  </a:srgbClr>
                </a:solidFill>
                <a:latin typeface="Quicksand Bold"/>
                <a:ea typeface="Quicksand Bold"/>
                <a:cs typeface="Quicksand Bold"/>
                <a:sym typeface="Quicksand Bold"/>
              </a:rPr>
              <a:t>Skillspark is an</a:t>
            </a:r>
            <a:r>
              <a:rPr lang="en-US" b="true" sz="2400">
                <a:solidFill>
                  <a:srgbClr val="FFFFFF">
                    <a:alpha val="71765"/>
                  </a:srgbClr>
                </a:solidFill>
                <a:latin typeface="Quicksand Bold"/>
                <a:ea typeface="Quicksand Bold"/>
                <a:cs typeface="Quicksand Bold"/>
                <a:sym typeface="Quicksand Bold"/>
              </a:rPr>
              <a:t> online</a:t>
            </a:r>
            <a:r>
              <a:rPr lang="en-US" b="true" sz="2400">
                <a:solidFill>
                  <a:srgbClr val="FFFFFF">
                    <a:alpha val="71765"/>
                  </a:srgbClr>
                </a:solidFill>
                <a:latin typeface="Quicksand Bold"/>
                <a:ea typeface="Quicksand Bold"/>
                <a:cs typeface="Quicksand Bold"/>
                <a:sym typeface="Quicksand Bold"/>
              </a:rPr>
              <a:t> </a:t>
            </a:r>
            <a:r>
              <a:rPr lang="en-US" b="true" sz="2400">
                <a:solidFill>
                  <a:srgbClr val="FFFFFF">
                    <a:alpha val="71765"/>
                  </a:srgbClr>
                </a:solidFill>
                <a:latin typeface="Quicksand Bold"/>
                <a:ea typeface="Quicksand Bold"/>
                <a:cs typeface="Quicksand Bold"/>
                <a:sym typeface="Quicksand Bold"/>
              </a:rPr>
              <a:t>e-learning platform that offers courses in:</a:t>
            </a:r>
          </a:p>
          <a:p>
            <a:pPr algn="l">
              <a:lnSpc>
                <a:spcPts val="4079"/>
              </a:lnSpc>
            </a:pPr>
            <a:r>
              <a:rPr lang="en-US" sz="2400" b="true">
                <a:solidFill>
                  <a:srgbClr val="FFFFFF">
                    <a:alpha val="71765"/>
                  </a:srgbClr>
                </a:solidFill>
                <a:latin typeface="Quicksand Bold"/>
                <a:ea typeface="Quicksand Bold"/>
                <a:cs typeface="Quicksand Bold"/>
                <a:sym typeface="Quicksand Bold"/>
              </a:rPr>
              <a:t>        1. Digital Marketing</a:t>
            </a:r>
          </a:p>
          <a:p>
            <a:pPr algn="l">
              <a:lnSpc>
                <a:spcPts val="4079"/>
              </a:lnSpc>
            </a:pPr>
            <a:r>
              <a:rPr lang="en-US" sz="2400" b="true">
                <a:solidFill>
                  <a:srgbClr val="FFFFFF">
                    <a:alpha val="71765"/>
                  </a:srgbClr>
                </a:solidFill>
                <a:latin typeface="Quicksand Bold"/>
                <a:ea typeface="Quicksand Bold"/>
                <a:cs typeface="Quicksand Bold"/>
                <a:sym typeface="Quicksand Bold"/>
              </a:rPr>
              <a:t>        2. SEO</a:t>
            </a:r>
          </a:p>
          <a:p>
            <a:pPr algn="l">
              <a:lnSpc>
                <a:spcPts val="4079"/>
              </a:lnSpc>
            </a:pPr>
            <a:r>
              <a:rPr lang="en-US" sz="2400" b="true">
                <a:solidFill>
                  <a:srgbClr val="FFFFFF">
                    <a:alpha val="71765"/>
                  </a:srgbClr>
                </a:solidFill>
                <a:latin typeface="Quicksand Bold"/>
                <a:ea typeface="Quicksand Bold"/>
                <a:cs typeface="Quicksand Bold"/>
                <a:sym typeface="Quicksand Bold"/>
              </a:rPr>
              <a:t>        3. Coding &amp; Web Development</a:t>
            </a:r>
          </a:p>
          <a:p>
            <a:pPr algn="l">
              <a:lnSpc>
                <a:spcPts val="4079"/>
              </a:lnSpc>
            </a:pPr>
            <a:r>
              <a:rPr lang="en-US" sz="2400" b="true">
                <a:solidFill>
                  <a:srgbClr val="FFFFFF">
                    <a:alpha val="71765"/>
                  </a:srgbClr>
                </a:solidFill>
                <a:latin typeface="Quicksand Bold"/>
                <a:ea typeface="Quicksand Bold"/>
                <a:cs typeface="Quicksand Bold"/>
                <a:sym typeface="Quicksand Bold"/>
              </a:rPr>
              <a:t>        4. Graphic Design</a:t>
            </a:r>
          </a:p>
          <a:p>
            <a:pPr algn="l">
              <a:lnSpc>
                <a:spcPts val="4079"/>
              </a:lnSpc>
            </a:pPr>
            <a:r>
              <a:rPr lang="en-US" sz="2400" b="true">
                <a:solidFill>
                  <a:srgbClr val="FFFFFF">
                    <a:alpha val="71765"/>
                  </a:srgbClr>
                </a:solidFill>
                <a:latin typeface="Quicksand Bold"/>
                <a:ea typeface="Quicksand Bold"/>
                <a:cs typeface="Quicksand Bold"/>
                <a:sym typeface="Quicksand Bold"/>
              </a:rPr>
              <a:t>        5. Business &amp; Entrepreneurship</a:t>
            </a:r>
          </a:p>
          <a:p>
            <a:pPr algn="l" marL="518160" indent="-259080" lvl="1">
              <a:lnSpc>
                <a:spcPts val="4079"/>
              </a:lnSpc>
              <a:buFont typeface="Arial"/>
              <a:buChar char="•"/>
            </a:pPr>
            <a:r>
              <a:rPr lang="en-US" b="true" sz="2400">
                <a:solidFill>
                  <a:srgbClr val="FFFFFF">
                    <a:alpha val="71765"/>
                  </a:srgbClr>
                </a:solidFill>
                <a:latin typeface="Quicksand Bold"/>
                <a:ea typeface="Quicksand Bold"/>
                <a:cs typeface="Quicksand Bold"/>
                <a:sym typeface="Quicksand Bold"/>
              </a:rPr>
              <a:t>Affordable beginner-to-advanced programs</a:t>
            </a:r>
          </a:p>
          <a:p>
            <a:pPr algn="l" marL="518160" indent="-259080" lvl="1">
              <a:lnSpc>
                <a:spcPts val="4079"/>
              </a:lnSpc>
              <a:buFont typeface="Arial"/>
              <a:buChar char="•"/>
            </a:pPr>
            <a:r>
              <a:rPr lang="en-US" b="true" sz="2400">
                <a:solidFill>
                  <a:srgbClr val="FFFFFF">
                    <a:alpha val="71765"/>
                  </a:srgbClr>
                </a:solidFill>
                <a:latin typeface="Quicksand Bold"/>
                <a:ea typeface="Quicksand Bold"/>
                <a:cs typeface="Quicksand Bold"/>
                <a:sym typeface="Quicksand Bold"/>
              </a:rPr>
              <a:t>Certification upon course completion</a:t>
            </a:r>
          </a:p>
          <a:p>
            <a:pPr algn="l">
              <a:lnSpc>
                <a:spcPts val="4079"/>
              </a:lnSpc>
            </a:pPr>
          </a:p>
          <a:p>
            <a:pPr algn="l" marL="0" indent="0" lvl="0">
              <a:lnSpc>
                <a:spcPts val="4079"/>
              </a:lnSpc>
              <a:spcBef>
                <a:spcPct val="0"/>
              </a:spcBef>
            </a:pPr>
          </a:p>
        </p:txBody>
      </p:sp>
      <p:sp>
        <p:nvSpPr>
          <p:cNvPr name="TextBox 10" id="10"/>
          <p:cNvSpPr txBox="true"/>
          <p:nvPr/>
        </p:nvSpPr>
        <p:spPr>
          <a:xfrm rot="0">
            <a:off x="1844567" y="3950933"/>
            <a:ext cx="8778584" cy="348023"/>
          </a:xfrm>
          <a:prstGeom prst="rect">
            <a:avLst/>
          </a:prstGeom>
        </p:spPr>
        <p:txBody>
          <a:bodyPr anchor="t" rtlCol="false" tIns="0" lIns="0" bIns="0" rIns="0">
            <a:spAutoFit/>
          </a:bodyPr>
          <a:lstStyle/>
          <a:p>
            <a:pPr algn="l">
              <a:lnSpc>
                <a:spcPts val="2867"/>
              </a:lnSpc>
            </a:pPr>
            <a:r>
              <a:rPr lang="en-US" b="true" sz="2048" spc="256">
                <a:solidFill>
                  <a:srgbClr val="FFFFFF"/>
                </a:solidFill>
                <a:latin typeface="Quicksand Bold"/>
                <a:ea typeface="Quicksand Bold"/>
                <a:cs typeface="Quicksand Bold"/>
                <a:sym typeface="Quicksand Bold"/>
              </a:rPr>
              <a:t>GOOGLE ADS CAMPAIGN FOR SKILLSPARK</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84323"/>
            <a:ext cx="10579661" cy="1345992"/>
          </a:xfrm>
          <a:prstGeom prst="rect">
            <a:avLst/>
          </a:prstGeom>
        </p:spPr>
        <p:txBody>
          <a:bodyPr anchor="t" rtlCol="false" tIns="0" lIns="0" bIns="0" rIns="0">
            <a:spAutoFit/>
          </a:bodyPr>
          <a:lstStyle/>
          <a:p>
            <a:pPr algn="l">
              <a:lnSpc>
                <a:spcPts val="10463"/>
              </a:lnSpc>
            </a:pPr>
            <a:r>
              <a:rPr lang="en-US" sz="9426" spc="-480" b="true">
                <a:solidFill>
                  <a:srgbClr val="FFFFFF"/>
                </a:solidFill>
                <a:latin typeface="Quicksand Bold"/>
                <a:ea typeface="Quicksand Bold"/>
                <a:cs typeface="Quicksand Bold"/>
                <a:sym typeface="Quicksand Bold"/>
              </a:rPr>
              <a:t>Problem Statement</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2042421" y="4054190"/>
            <a:ext cx="10381808" cy="4600575"/>
          </a:xfrm>
          <a:prstGeom prst="rect">
            <a:avLst/>
          </a:prstGeom>
        </p:spPr>
        <p:txBody>
          <a:bodyPr anchor="t" rtlCol="false" tIns="0" lIns="0" bIns="0" rIns="0">
            <a:spAutoFit/>
          </a:bodyPr>
          <a:lstStyle/>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Despite offering high-quality and affordable courses:</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Low website traffic</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Low brand awareness</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High competition from platforms like Udemy &amp; Coursera</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Low course enrollment rate</a:t>
            </a:r>
          </a:p>
          <a:p>
            <a:pPr algn="l">
              <a:lnSpc>
                <a:spcPts val="4079"/>
              </a:lnSpc>
            </a:pP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SkillSpark is struggling to generate qualified leads and conversions.</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 </a:t>
            </a:r>
          </a:p>
          <a:p>
            <a:pPr algn="l">
              <a:lnSpc>
                <a:spcPts val="407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84323"/>
            <a:ext cx="13713215" cy="1345992"/>
          </a:xfrm>
          <a:prstGeom prst="rect">
            <a:avLst/>
          </a:prstGeom>
        </p:spPr>
        <p:txBody>
          <a:bodyPr anchor="t" rtlCol="false" tIns="0" lIns="0" bIns="0" rIns="0">
            <a:spAutoFit/>
          </a:bodyPr>
          <a:lstStyle/>
          <a:p>
            <a:pPr algn="l">
              <a:lnSpc>
                <a:spcPts val="10463"/>
              </a:lnSpc>
            </a:pPr>
            <a:r>
              <a:rPr lang="en-US" sz="9426" spc="-480" b="true">
                <a:solidFill>
                  <a:srgbClr val="FFFFFF"/>
                </a:solidFill>
                <a:latin typeface="Quicksand Bold"/>
                <a:ea typeface="Quicksand Bold"/>
                <a:cs typeface="Quicksand Bold"/>
                <a:sym typeface="Quicksand Bold"/>
              </a:rPr>
              <a:t>Campaign Objectives</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1844567" y="4054190"/>
            <a:ext cx="10381808" cy="3571875"/>
          </a:xfrm>
          <a:prstGeom prst="rect">
            <a:avLst/>
          </a:prstGeom>
        </p:spPr>
        <p:txBody>
          <a:bodyPr anchor="t" rtlCol="false" tIns="0" lIns="0" bIns="0" rIns="0">
            <a:spAutoFit/>
          </a:bodyPr>
          <a:lstStyle/>
          <a:p>
            <a:pPr algn="l">
              <a:lnSpc>
                <a:spcPts val="4079"/>
              </a:lnSpc>
            </a:pPr>
            <a:r>
              <a:rPr lang="en-US" sz="2400" b="true">
                <a:solidFill>
                  <a:srgbClr val="FFFFFF">
                    <a:alpha val="71765"/>
                  </a:srgbClr>
                </a:solidFill>
                <a:latin typeface="Quicksand Bold"/>
                <a:ea typeface="Quicksand Bold"/>
                <a:cs typeface="Quicksand Bold"/>
                <a:sym typeface="Quicksand Bold"/>
              </a:rPr>
              <a:t>The Google Ads Campaign aims to:</a:t>
            </a:r>
          </a:p>
          <a:p>
            <a:pPr algn="l" marL="518160" indent="-259080" lvl="1">
              <a:lnSpc>
                <a:spcPts val="4079"/>
              </a:lnSpc>
              <a:buFont typeface="Arial"/>
              <a:buChar char="•"/>
            </a:pPr>
            <a:r>
              <a:rPr lang="en-US" b="true" sz="2400">
                <a:solidFill>
                  <a:srgbClr val="FFFFFF">
                    <a:alpha val="71765"/>
                  </a:srgbClr>
                </a:solidFill>
                <a:latin typeface="Quicksand Bold"/>
                <a:ea typeface="Quicksand Bold"/>
                <a:cs typeface="Quicksand Bold"/>
                <a:sym typeface="Quicksand Bold"/>
              </a:rPr>
              <a:t>Incre</a:t>
            </a:r>
            <a:r>
              <a:rPr lang="en-US" b="true" sz="2400" strike="noStrike" u="none">
                <a:solidFill>
                  <a:srgbClr val="FFFFFF">
                    <a:alpha val="71765"/>
                  </a:srgbClr>
                </a:solidFill>
                <a:latin typeface="Quicksand Bold"/>
                <a:ea typeface="Quicksand Bold"/>
                <a:cs typeface="Quicksand Bold"/>
                <a:sym typeface="Quicksand Bold"/>
              </a:rPr>
              <a:t>ase website traffic by 40%</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Generate quality leads (sign-ups)</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Improve course enrollments</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Increase brand visibility in the e-learning market</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Achieve a target CPC below ₹20</a:t>
            </a:r>
          </a:p>
          <a:p>
            <a:pPr algn="l">
              <a:lnSpc>
                <a:spcPts val="4079"/>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81996"/>
            <a:ext cx="13713215" cy="1345992"/>
          </a:xfrm>
          <a:prstGeom prst="rect">
            <a:avLst/>
          </a:prstGeom>
        </p:spPr>
        <p:txBody>
          <a:bodyPr anchor="t" rtlCol="false" tIns="0" lIns="0" bIns="0" rIns="0">
            <a:spAutoFit/>
          </a:bodyPr>
          <a:lstStyle/>
          <a:p>
            <a:pPr algn="l">
              <a:lnSpc>
                <a:spcPts val="10463"/>
              </a:lnSpc>
            </a:pPr>
            <a:r>
              <a:rPr lang="en-US" sz="9426" spc="-480" b="true">
                <a:solidFill>
                  <a:srgbClr val="FFFFFF"/>
                </a:solidFill>
                <a:latin typeface="Quicksand Bold"/>
                <a:ea typeface="Quicksand Bold"/>
                <a:cs typeface="Quicksand Bold"/>
                <a:sym typeface="Quicksand Bold"/>
              </a:rPr>
              <a:t>Campaign Setup</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1844567" y="4054190"/>
            <a:ext cx="10381808" cy="4600575"/>
          </a:xfrm>
          <a:prstGeom prst="rect">
            <a:avLst/>
          </a:prstGeom>
        </p:spPr>
        <p:txBody>
          <a:bodyPr anchor="t" rtlCol="false" tIns="0" lIns="0" bIns="0" rIns="0">
            <a:spAutoFit/>
          </a:bodyPr>
          <a:lstStyle/>
          <a:p>
            <a:pPr algn="l">
              <a:lnSpc>
                <a:spcPts val="4079"/>
              </a:lnSpc>
            </a:pPr>
            <a:r>
              <a:rPr lang="en-US" b="true" sz="2400">
                <a:solidFill>
                  <a:srgbClr val="FFFFFF">
                    <a:alpha val="71765"/>
                  </a:srgbClr>
                </a:solidFill>
                <a:latin typeface="Quicksand Bold"/>
                <a:ea typeface="Quicksand Bold"/>
                <a:cs typeface="Quicksand Bold"/>
                <a:sym typeface="Quicksand Bold"/>
              </a:rPr>
              <a:t>C</a:t>
            </a:r>
            <a:r>
              <a:rPr lang="en-US" b="true" sz="2400" strike="noStrike" u="none">
                <a:solidFill>
                  <a:srgbClr val="FFFFFF">
                    <a:alpha val="71765"/>
                  </a:srgbClr>
                </a:solidFill>
                <a:latin typeface="Quicksand Bold"/>
                <a:ea typeface="Quicksand Bold"/>
                <a:cs typeface="Quicksand Bold"/>
                <a:sym typeface="Quicksand Bold"/>
              </a:rPr>
              <a:t>ampaign Type Chosen:</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Search Campaign </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Target Audience:</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Age: 18–30</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Location: NCR</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Interests: Career growth, online learning</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Ad Format Used:</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Responsive Search Ads</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Display Banner Ads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65273"/>
            <a:ext cx="13713215" cy="1148715"/>
          </a:xfrm>
          <a:prstGeom prst="rect">
            <a:avLst/>
          </a:prstGeom>
        </p:spPr>
        <p:txBody>
          <a:bodyPr anchor="t" rtlCol="false" tIns="0" lIns="0" bIns="0" rIns="0">
            <a:spAutoFit/>
          </a:bodyPr>
          <a:lstStyle/>
          <a:p>
            <a:pPr algn="l">
              <a:lnSpc>
                <a:spcPts val="8880"/>
              </a:lnSpc>
            </a:pPr>
            <a:r>
              <a:rPr lang="en-US" sz="8000" spc="-408" b="true">
                <a:solidFill>
                  <a:srgbClr val="FFFFFF"/>
                </a:solidFill>
                <a:latin typeface="Quicksand Bold"/>
                <a:ea typeface="Quicksand Bold"/>
                <a:cs typeface="Quicksand Bold"/>
                <a:sym typeface="Quicksand Bold"/>
              </a:rPr>
              <a:t>Keyword Strategy </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1844567" y="4054190"/>
            <a:ext cx="10381808" cy="5629275"/>
          </a:xfrm>
          <a:prstGeom prst="rect">
            <a:avLst/>
          </a:prstGeom>
        </p:spPr>
        <p:txBody>
          <a:bodyPr anchor="t" rtlCol="false" tIns="0" lIns="0" bIns="0" rIns="0">
            <a:spAutoFit/>
          </a:bodyPr>
          <a:lstStyle/>
          <a:p>
            <a:pPr algn="l" marL="518160" indent="-259080" lvl="1">
              <a:lnSpc>
                <a:spcPts val="4079"/>
              </a:lnSpc>
              <a:buFont typeface="Arial"/>
              <a:buChar char="•"/>
            </a:pPr>
            <a:r>
              <a:rPr lang="en-US" b="true" sz="2400">
                <a:solidFill>
                  <a:srgbClr val="FFFFFF">
                    <a:alpha val="71765"/>
                  </a:srgbClr>
                </a:solidFill>
                <a:latin typeface="Quicksand Bold"/>
                <a:ea typeface="Quicksand Bold"/>
                <a:cs typeface="Quicksand Bold"/>
                <a:sym typeface="Quicksand Bold"/>
              </a:rPr>
              <a:t>Co</a:t>
            </a:r>
            <a:r>
              <a:rPr lang="en-US" b="true" sz="2400" strike="noStrike" u="none">
                <a:solidFill>
                  <a:srgbClr val="FFFFFF">
                    <a:alpha val="71765"/>
                  </a:srgbClr>
                </a:solidFill>
                <a:latin typeface="Quicksand Bold"/>
                <a:ea typeface="Quicksand Bold"/>
                <a:cs typeface="Quicksand Bold"/>
                <a:sym typeface="Quicksand Bold"/>
              </a:rPr>
              <a:t>nducted keyword research usin</a:t>
            </a:r>
            <a:r>
              <a:rPr lang="en-US" b="true" sz="2400" strike="noStrike" u="none">
                <a:solidFill>
                  <a:srgbClr val="FFFFFF">
                    <a:alpha val="71765"/>
                  </a:srgbClr>
                </a:solidFill>
                <a:latin typeface="Quicksand Bold"/>
                <a:ea typeface="Quicksand Bold"/>
                <a:cs typeface="Quicksand Bold"/>
                <a:sym typeface="Quicksand Bold"/>
              </a:rPr>
              <a:t>g Google Keyw</a:t>
            </a:r>
            <a:r>
              <a:rPr lang="en-US" b="true" sz="2400" strike="noStrike" u="none">
                <a:solidFill>
                  <a:srgbClr val="FFFFFF">
                    <a:alpha val="71765"/>
                  </a:srgbClr>
                </a:solidFill>
                <a:latin typeface="Quicksand Bold"/>
                <a:ea typeface="Quicksand Bold"/>
                <a:cs typeface="Quicksand Bold"/>
                <a:sym typeface="Quicksand Bold"/>
              </a:rPr>
              <a:t>ord Planner</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High-intent keywords</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       1. “Best digital marketing course”</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       2. “Online coding classes”</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       3. “Graphic design course online”</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Long-tail keywords</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       1. </a:t>
            </a:r>
            <a:r>
              <a:rPr lang="en-US" b="true" sz="2400" strike="noStrike" u="none">
                <a:solidFill>
                  <a:srgbClr val="FFFFFF">
                    <a:alpha val="71765"/>
                  </a:srgbClr>
                </a:solidFill>
                <a:latin typeface="Quicksand Bold"/>
                <a:ea typeface="Quicksand Bold"/>
                <a:cs typeface="Quicksand Bold"/>
                <a:sym typeface="Quicksand Bold"/>
              </a:rPr>
              <a:t>“Affordable digital marketing course for beginners”</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       2. “Online coding course with certificate”</a:t>
            </a:r>
          </a:p>
          <a:p>
            <a:pPr algn="l">
              <a:lnSpc>
                <a:spcPts val="4079"/>
              </a:lnSpc>
            </a:pPr>
          </a:p>
          <a:p>
            <a:pPr algn="l">
              <a:lnSpc>
                <a:spcPts val="4079"/>
              </a:lnSpc>
            </a:pPr>
          </a:p>
          <a:p>
            <a:pPr algn="l">
              <a:lnSpc>
                <a:spcPts val="4079"/>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65273"/>
            <a:ext cx="13713215" cy="1148715"/>
          </a:xfrm>
          <a:prstGeom prst="rect">
            <a:avLst/>
          </a:prstGeom>
        </p:spPr>
        <p:txBody>
          <a:bodyPr anchor="t" rtlCol="false" tIns="0" lIns="0" bIns="0" rIns="0">
            <a:spAutoFit/>
          </a:bodyPr>
          <a:lstStyle/>
          <a:p>
            <a:pPr algn="l">
              <a:lnSpc>
                <a:spcPts val="8880"/>
              </a:lnSpc>
            </a:pPr>
            <a:r>
              <a:rPr lang="en-US" sz="8000" spc="-408" b="true">
                <a:solidFill>
                  <a:srgbClr val="FFFFFF"/>
                </a:solidFill>
                <a:latin typeface="Quicksand Bold"/>
                <a:ea typeface="Quicksand Bold"/>
                <a:cs typeface="Quicksand Bold"/>
                <a:sym typeface="Quicksand Bold"/>
              </a:rPr>
              <a:t>Budget &amp; Bidding Strategy</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1844567" y="4033575"/>
            <a:ext cx="10381808" cy="3571875"/>
          </a:xfrm>
          <a:prstGeom prst="rect">
            <a:avLst/>
          </a:prstGeom>
        </p:spPr>
        <p:txBody>
          <a:bodyPr anchor="t" rtlCol="false" tIns="0" lIns="0" bIns="0" rIns="0">
            <a:spAutoFit/>
          </a:bodyPr>
          <a:lstStyle/>
          <a:p>
            <a:pPr algn="l">
              <a:lnSpc>
                <a:spcPts val="4079"/>
              </a:lnSpc>
            </a:pPr>
            <a:r>
              <a:rPr lang="en-US" b="true" sz="2400">
                <a:solidFill>
                  <a:srgbClr val="FFFFFF">
                    <a:alpha val="71765"/>
                  </a:srgbClr>
                </a:solidFill>
                <a:latin typeface="Quicksand Bold"/>
                <a:ea typeface="Quicksand Bold"/>
                <a:cs typeface="Quicksand Bold"/>
                <a:sym typeface="Quicksand Bold"/>
              </a:rPr>
              <a:t>D</a:t>
            </a:r>
            <a:r>
              <a:rPr lang="en-US" b="true" sz="2400" strike="noStrike" u="none">
                <a:solidFill>
                  <a:srgbClr val="FFFFFF">
                    <a:alpha val="71765"/>
                  </a:srgbClr>
                </a:solidFill>
                <a:latin typeface="Quicksand Bold"/>
                <a:ea typeface="Quicksand Bold"/>
                <a:cs typeface="Quicksand Bold"/>
                <a:sym typeface="Quicksand Bold"/>
              </a:rPr>
              <a:t>ai</a:t>
            </a:r>
            <a:r>
              <a:rPr lang="en-US" b="true" sz="2400" strike="noStrike" u="none">
                <a:solidFill>
                  <a:srgbClr val="FFFFFF">
                    <a:alpha val="71765"/>
                  </a:srgbClr>
                </a:solidFill>
                <a:latin typeface="Quicksand Bold"/>
                <a:ea typeface="Quicksand Bold"/>
                <a:cs typeface="Quicksand Bold"/>
                <a:sym typeface="Quicksand Bold"/>
              </a:rPr>
              <a:t>ly</a:t>
            </a:r>
            <a:r>
              <a:rPr lang="en-US" b="true" sz="2400" strike="noStrike" u="none">
                <a:solidFill>
                  <a:srgbClr val="FFFFFF">
                    <a:alpha val="71765"/>
                  </a:srgbClr>
                </a:solidFill>
                <a:latin typeface="Quicksand Bold"/>
                <a:ea typeface="Quicksand Bold"/>
                <a:cs typeface="Quicksand Bold"/>
                <a:sym typeface="Quicksand Bold"/>
              </a:rPr>
              <a:t> Budget: ₹</a:t>
            </a:r>
            <a:r>
              <a:rPr lang="en-US" b="true" sz="2400" strike="noStrike" u="none">
                <a:solidFill>
                  <a:srgbClr val="FFFFFF">
                    <a:alpha val="71765"/>
                  </a:srgbClr>
                </a:solidFill>
                <a:latin typeface="Quicksand Bold"/>
                <a:ea typeface="Quicksand Bold"/>
                <a:cs typeface="Quicksand Bold"/>
                <a:sym typeface="Quicksand Bold"/>
              </a:rPr>
              <a:t>1,000</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Campaign Duration: 30 Days</a:t>
            </a:r>
          </a:p>
          <a:p>
            <a:pPr algn="l">
              <a:lnSpc>
                <a:spcPts val="4079"/>
              </a:lnSpc>
            </a:pP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Bidding Strategy:</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Maximize Clicks (initial phase)</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Later shi</a:t>
            </a:r>
            <a:r>
              <a:rPr lang="en-US" b="true" sz="2400" strike="noStrike" u="none">
                <a:solidFill>
                  <a:srgbClr val="FFFFFF">
                    <a:alpha val="71765"/>
                  </a:srgbClr>
                </a:solidFill>
                <a:latin typeface="Quicksand Bold"/>
                <a:ea typeface="Quicksand Bold"/>
                <a:cs typeface="Quicksand Bold"/>
                <a:sym typeface="Quicksand Bold"/>
              </a:rPr>
              <a:t>fted to Maximize Conversions</a:t>
            </a:r>
          </a:p>
          <a:p>
            <a:pPr algn="l">
              <a:lnSpc>
                <a:spcPts val="4079"/>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65273"/>
            <a:ext cx="14661528" cy="1148715"/>
          </a:xfrm>
          <a:prstGeom prst="rect">
            <a:avLst/>
          </a:prstGeom>
        </p:spPr>
        <p:txBody>
          <a:bodyPr anchor="t" rtlCol="false" tIns="0" lIns="0" bIns="0" rIns="0">
            <a:spAutoFit/>
          </a:bodyPr>
          <a:lstStyle/>
          <a:p>
            <a:pPr algn="l">
              <a:lnSpc>
                <a:spcPts val="8880"/>
              </a:lnSpc>
            </a:pPr>
            <a:r>
              <a:rPr lang="en-US" sz="8000" spc="-408" b="true">
                <a:solidFill>
                  <a:srgbClr val="FFFFFF"/>
                </a:solidFill>
                <a:latin typeface="Quicksand Bold"/>
                <a:ea typeface="Quicksand Bold"/>
                <a:cs typeface="Quicksand Bold"/>
                <a:sym typeface="Quicksand Bold"/>
              </a:rPr>
              <a:t>Campaign Performance Results</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1844567" y="4033575"/>
            <a:ext cx="10381808" cy="4600575"/>
          </a:xfrm>
          <a:prstGeom prst="rect">
            <a:avLst/>
          </a:prstGeom>
        </p:spPr>
        <p:txBody>
          <a:bodyPr anchor="t" rtlCol="false" tIns="0" lIns="0" bIns="0" rIns="0">
            <a:spAutoFit/>
          </a:bodyPr>
          <a:lstStyle/>
          <a:p>
            <a:pPr algn="l">
              <a:lnSpc>
                <a:spcPts val="4079"/>
              </a:lnSpc>
            </a:pPr>
            <a:r>
              <a:rPr lang="en-US" b="true" sz="2400">
                <a:solidFill>
                  <a:srgbClr val="FFFFFF">
                    <a:alpha val="71765"/>
                  </a:srgbClr>
                </a:solidFill>
                <a:latin typeface="Quicksand Bold"/>
                <a:ea typeface="Quicksand Bold"/>
                <a:cs typeface="Quicksand Bold"/>
                <a:sym typeface="Quicksand Bold"/>
              </a:rPr>
              <a:t>After 30 D</a:t>
            </a:r>
            <a:r>
              <a:rPr lang="en-US" b="true" sz="2400" strike="noStrike" u="none">
                <a:solidFill>
                  <a:srgbClr val="FFFFFF">
                    <a:alpha val="71765"/>
                  </a:srgbClr>
                </a:solidFill>
                <a:latin typeface="Quicksand Bold"/>
                <a:ea typeface="Quicksand Bold"/>
                <a:cs typeface="Quicksand Bold"/>
                <a:sym typeface="Quicksand Bold"/>
              </a:rPr>
              <a:t>a</a:t>
            </a:r>
            <a:r>
              <a:rPr lang="en-US" b="true" sz="2400" strike="noStrike" u="none">
                <a:solidFill>
                  <a:srgbClr val="FFFFFF">
                    <a:alpha val="71765"/>
                  </a:srgbClr>
                </a:solidFill>
                <a:latin typeface="Quicksand Bold"/>
                <a:ea typeface="Quicksand Bold"/>
                <a:cs typeface="Quicksand Bold"/>
                <a:sym typeface="Quicksand Bold"/>
              </a:rPr>
              <a:t>ys:</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Total</a:t>
            </a:r>
            <a:r>
              <a:rPr lang="en-US" b="true" sz="2400" strike="noStrike" u="none">
                <a:solidFill>
                  <a:srgbClr val="FFFFFF">
                    <a:alpha val="71765"/>
                  </a:srgbClr>
                </a:solidFill>
                <a:latin typeface="Quicksand Bold"/>
                <a:ea typeface="Quicksand Bold"/>
                <a:cs typeface="Quicksand Bold"/>
                <a:sym typeface="Quicksand Bold"/>
              </a:rPr>
              <a:t> Clicks: 4</a:t>
            </a:r>
            <a:r>
              <a:rPr lang="en-US" b="true" sz="2400" strike="noStrike" u="none">
                <a:solidFill>
                  <a:srgbClr val="FFFFFF">
                    <a:alpha val="71765"/>
                  </a:srgbClr>
                </a:solidFill>
                <a:latin typeface="Quicksand Bold"/>
                <a:ea typeface="Quicksand Bold"/>
                <a:cs typeface="Quicksand Bold"/>
                <a:sym typeface="Quicksand Bold"/>
              </a:rPr>
              <a:t>,500</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I</a:t>
            </a:r>
            <a:r>
              <a:rPr lang="en-US" b="true" sz="2400" strike="noStrike" u="none">
                <a:solidFill>
                  <a:srgbClr val="FFFFFF">
                    <a:alpha val="71765"/>
                  </a:srgbClr>
                </a:solidFill>
                <a:latin typeface="Quicksand Bold"/>
                <a:ea typeface="Quicksand Bold"/>
                <a:cs typeface="Quicksand Bold"/>
                <a:sym typeface="Quicksand Bold"/>
              </a:rPr>
              <a:t>mpressions: 1,20,000</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CTR: 3.75%</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Av</a:t>
            </a:r>
            <a:r>
              <a:rPr lang="en-US" b="true" sz="2400" strike="noStrike" u="none">
                <a:solidFill>
                  <a:srgbClr val="FFFFFF">
                    <a:alpha val="71765"/>
                  </a:srgbClr>
                </a:solidFill>
                <a:latin typeface="Quicksand Bold"/>
                <a:ea typeface="Quicksand Bold"/>
                <a:cs typeface="Quicksand Bold"/>
                <a:sym typeface="Quicksand Bold"/>
              </a:rPr>
              <a:t>g CPC: ₹18</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Total Spend: ₹27,000</a:t>
            </a:r>
          </a:p>
          <a:p>
            <a:pPr algn="l">
              <a:lnSpc>
                <a:spcPts val="4079"/>
              </a:lnSpc>
            </a:pP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Tr</a:t>
            </a:r>
            <a:r>
              <a:rPr lang="en-US" b="true" sz="2400" strike="noStrike" u="none">
                <a:solidFill>
                  <a:srgbClr val="FFFFFF">
                    <a:alpha val="71765"/>
                  </a:srgbClr>
                </a:solidFill>
                <a:latin typeface="Quicksand Bold"/>
                <a:ea typeface="Quicksand Bold"/>
                <a:cs typeface="Quicksand Bold"/>
                <a:sym typeface="Quicksand Bold"/>
              </a:rPr>
              <a:t>affic increased significantly compa</a:t>
            </a:r>
            <a:r>
              <a:rPr lang="en-US" b="true" sz="2400" strike="noStrike" u="none">
                <a:solidFill>
                  <a:srgbClr val="FFFFFF">
                    <a:alpha val="71765"/>
                  </a:srgbClr>
                </a:solidFill>
                <a:latin typeface="Quicksand Bold"/>
                <a:ea typeface="Quicksand Bold"/>
                <a:cs typeface="Quicksand Bold"/>
                <a:sym typeface="Quicksand Bold"/>
              </a:rPr>
              <a:t>r</a:t>
            </a:r>
            <a:r>
              <a:rPr lang="en-US" b="true" sz="2400" strike="noStrike" u="none">
                <a:solidFill>
                  <a:srgbClr val="FFFFFF">
                    <a:alpha val="71765"/>
                  </a:srgbClr>
                </a:solidFill>
                <a:latin typeface="Quicksand Bold"/>
                <a:ea typeface="Quicksand Bold"/>
                <a:cs typeface="Quicksand Bold"/>
                <a:sym typeface="Quicksand Bold"/>
              </a:rPr>
              <a:t>ed to previous month.</a:t>
            </a:r>
          </a:p>
          <a:p>
            <a:pPr algn="l">
              <a:lnSpc>
                <a:spcPts val="4079"/>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65273"/>
            <a:ext cx="15094453" cy="1148715"/>
          </a:xfrm>
          <a:prstGeom prst="rect">
            <a:avLst/>
          </a:prstGeom>
        </p:spPr>
        <p:txBody>
          <a:bodyPr anchor="t" rtlCol="false" tIns="0" lIns="0" bIns="0" rIns="0">
            <a:spAutoFit/>
          </a:bodyPr>
          <a:lstStyle/>
          <a:p>
            <a:pPr algn="l">
              <a:lnSpc>
                <a:spcPts val="8880"/>
              </a:lnSpc>
            </a:pPr>
            <a:r>
              <a:rPr lang="en-US" sz="8000" spc="-408" b="true">
                <a:solidFill>
                  <a:srgbClr val="FFFFFF"/>
                </a:solidFill>
                <a:latin typeface="Quicksand Bold"/>
                <a:ea typeface="Quicksand Bold"/>
                <a:cs typeface="Quicksand Bold"/>
                <a:sym typeface="Quicksand Bold"/>
              </a:rPr>
              <a:t>Conversions &amp; Lead Generation</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1844567" y="4033575"/>
            <a:ext cx="10381808" cy="3571875"/>
          </a:xfrm>
          <a:prstGeom prst="rect">
            <a:avLst/>
          </a:prstGeom>
        </p:spPr>
        <p:txBody>
          <a:bodyPr anchor="t" rtlCol="false" tIns="0" lIns="0" bIns="0" rIns="0">
            <a:spAutoFit/>
          </a:bodyPr>
          <a:lstStyle/>
          <a:p>
            <a:pPr algn="l" marL="518160" indent="-259080" lvl="1">
              <a:lnSpc>
                <a:spcPts val="4079"/>
              </a:lnSpc>
              <a:buFont typeface="Arial"/>
              <a:buChar char="•"/>
            </a:pPr>
            <a:r>
              <a:rPr lang="en-US" b="true" sz="2400">
                <a:solidFill>
                  <a:srgbClr val="FFFFFF">
                    <a:alpha val="71765"/>
                  </a:srgbClr>
                </a:solidFill>
                <a:latin typeface="Quicksand Bold"/>
                <a:ea typeface="Quicksand Bold"/>
                <a:cs typeface="Quicksand Bold"/>
                <a:sym typeface="Quicksand Bold"/>
              </a:rPr>
              <a:t>Tot</a:t>
            </a:r>
            <a:r>
              <a:rPr lang="en-US" b="true" sz="2400" strike="noStrike" u="none">
                <a:solidFill>
                  <a:srgbClr val="FFFFFF">
                    <a:alpha val="71765"/>
                  </a:srgbClr>
                </a:solidFill>
                <a:latin typeface="Quicksand Bold"/>
                <a:ea typeface="Quicksand Bold"/>
                <a:cs typeface="Quicksand Bold"/>
                <a:sym typeface="Quicksand Bold"/>
              </a:rPr>
              <a:t>a</a:t>
            </a:r>
            <a:r>
              <a:rPr lang="en-US" b="true" sz="2400" strike="noStrike" u="none">
                <a:solidFill>
                  <a:srgbClr val="FFFFFF">
                    <a:alpha val="71765"/>
                  </a:srgbClr>
                </a:solidFill>
                <a:latin typeface="Quicksand Bold"/>
                <a:ea typeface="Quicksand Bold"/>
                <a:cs typeface="Quicksand Bold"/>
                <a:sym typeface="Quicksand Bold"/>
              </a:rPr>
              <a:t>l</a:t>
            </a:r>
            <a:r>
              <a:rPr lang="en-US" b="true" sz="2400" strike="noStrike" u="none">
                <a:solidFill>
                  <a:srgbClr val="FFFFFF">
                    <a:alpha val="71765"/>
                  </a:srgbClr>
                </a:solidFill>
                <a:latin typeface="Quicksand Bold"/>
                <a:ea typeface="Quicksand Bold"/>
                <a:cs typeface="Quicksand Bold"/>
                <a:sym typeface="Quicksand Bold"/>
              </a:rPr>
              <a:t> Leads Generated: 65</a:t>
            </a:r>
            <a:r>
              <a:rPr lang="en-US" b="true" sz="2400" strike="noStrike" u="none">
                <a:solidFill>
                  <a:srgbClr val="FFFFFF">
                    <a:alpha val="71765"/>
                  </a:srgbClr>
                </a:solidFill>
                <a:latin typeface="Quicksand Bold"/>
                <a:ea typeface="Quicksand Bold"/>
                <a:cs typeface="Quicksand Bold"/>
                <a:sym typeface="Quicksand Bold"/>
              </a:rPr>
              <a:t>0</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Conversion Rate: 14%</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Course Enrollments: 210</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Cost per Lead: ₹41</a:t>
            </a:r>
          </a:p>
          <a:p>
            <a:pPr algn="l" marL="518160" indent="-259080" lvl="1">
              <a:lnSpc>
                <a:spcPts val="4079"/>
              </a:lnSpc>
              <a:buFont typeface="Arial"/>
              <a:buChar char="•"/>
            </a:pPr>
            <a:r>
              <a:rPr lang="en-US" b="true" sz="2400" strike="noStrike" u="none">
                <a:solidFill>
                  <a:srgbClr val="FFFFFF">
                    <a:alpha val="71765"/>
                  </a:srgbClr>
                </a:solidFill>
                <a:latin typeface="Quicksand Bold"/>
                <a:ea typeface="Quicksand Bold"/>
                <a:cs typeface="Quicksand Bold"/>
                <a:sym typeface="Quicksand Bold"/>
              </a:rPr>
              <a:t>ROI </a:t>
            </a:r>
            <a:r>
              <a:rPr lang="en-US" b="true" sz="2400" strike="noStrike" u="none">
                <a:solidFill>
                  <a:srgbClr val="FFFFFF">
                    <a:alpha val="71765"/>
                  </a:srgbClr>
                </a:solidFill>
                <a:latin typeface="Quicksand Bold"/>
                <a:ea typeface="Quicksand Bold"/>
                <a:cs typeface="Quicksand Bold"/>
                <a:sym typeface="Quicksand Bold"/>
              </a:rPr>
              <a:t>improved by 28%</a:t>
            </a: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Search campaign p</a:t>
            </a:r>
            <a:r>
              <a:rPr lang="en-US" b="true" sz="2400" strike="noStrike" u="none">
                <a:solidFill>
                  <a:srgbClr val="FFFFFF">
                    <a:alpha val="71765"/>
                  </a:srgbClr>
                </a:solidFill>
                <a:latin typeface="Quicksand Bold"/>
                <a:ea typeface="Quicksand Bold"/>
                <a:cs typeface="Quicksand Bold"/>
                <a:sym typeface="Quicksand Bold"/>
              </a:rPr>
              <a:t>er</a:t>
            </a:r>
            <a:r>
              <a:rPr lang="en-US" b="true" sz="2400" strike="noStrike" u="none">
                <a:solidFill>
                  <a:srgbClr val="FFFFFF">
                    <a:alpha val="71765"/>
                  </a:srgbClr>
                </a:solidFill>
                <a:latin typeface="Quicksand Bold"/>
                <a:ea typeface="Quicksand Bold"/>
                <a:cs typeface="Quicksand Bold"/>
                <a:sym typeface="Quicksand Bold"/>
              </a:rPr>
              <a:t>formed better than display ads.</a:t>
            </a:r>
          </a:p>
          <a:p>
            <a:pPr algn="l">
              <a:lnSpc>
                <a:spcPts val="4079"/>
              </a:lnSpc>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52137"/>
        </a:solidFill>
      </p:bgPr>
    </p:bg>
    <p:spTree>
      <p:nvGrpSpPr>
        <p:cNvPr id="1" name=""/>
        <p:cNvGrpSpPr/>
        <p:nvPr/>
      </p:nvGrpSpPr>
      <p:grpSpPr>
        <a:xfrm>
          <a:off x="0" y="0"/>
          <a:ext cx="0" cy="0"/>
          <a:chOff x="0" y="0"/>
          <a:chExt cx="0" cy="0"/>
        </a:xfrm>
      </p:grpSpPr>
      <p:grpSp>
        <p:nvGrpSpPr>
          <p:cNvPr name="Group 2" id="2"/>
          <p:cNvGrpSpPr/>
          <p:nvPr/>
        </p:nvGrpSpPr>
        <p:grpSpPr>
          <a:xfrm rot="2618915">
            <a:off x="-1802415" y="-3134426"/>
            <a:ext cx="6563245" cy="6563245"/>
            <a:chOff x="0" y="0"/>
            <a:chExt cx="1728591" cy="1728591"/>
          </a:xfrm>
        </p:grpSpPr>
        <p:sp>
          <p:nvSpPr>
            <p:cNvPr name="Freeform 3" id="3"/>
            <p:cNvSpPr/>
            <p:nvPr/>
          </p:nvSpPr>
          <p:spPr>
            <a:xfrm flipH="false" flipV="false" rot="0">
              <a:off x="0" y="0"/>
              <a:ext cx="1728591" cy="1728591"/>
            </a:xfrm>
            <a:custGeom>
              <a:avLst/>
              <a:gdLst/>
              <a:ahLst/>
              <a:cxnLst/>
              <a:rect r="r" b="b" t="t" l="l"/>
              <a:pathLst>
                <a:path h="1728591" w="1728591">
                  <a:moveTo>
                    <a:pt x="37747" y="0"/>
                  </a:moveTo>
                  <a:lnTo>
                    <a:pt x="1690845" y="0"/>
                  </a:lnTo>
                  <a:cubicBezTo>
                    <a:pt x="1700856" y="0"/>
                    <a:pt x="1710457" y="3977"/>
                    <a:pt x="1717536" y="11056"/>
                  </a:cubicBezTo>
                  <a:cubicBezTo>
                    <a:pt x="1724614" y="18135"/>
                    <a:pt x="1728591" y="27736"/>
                    <a:pt x="1728591" y="37747"/>
                  </a:cubicBezTo>
                  <a:lnTo>
                    <a:pt x="1728591" y="1690845"/>
                  </a:lnTo>
                  <a:cubicBezTo>
                    <a:pt x="1728591" y="1700856"/>
                    <a:pt x="1724614" y="1710457"/>
                    <a:pt x="1717536" y="1717536"/>
                  </a:cubicBezTo>
                  <a:cubicBezTo>
                    <a:pt x="1710457" y="1724614"/>
                    <a:pt x="1700856" y="1728591"/>
                    <a:pt x="1690845" y="1728591"/>
                  </a:cubicBezTo>
                  <a:lnTo>
                    <a:pt x="37747" y="1728591"/>
                  </a:lnTo>
                  <a:cubicBezTo>
                    <a:pt x="27736" y="1728591"/>
                    <a:pt x="18135" y="1724614"/>
                    <a:pt x="11056" y="1717536"/>
                  </a:cubicBezTo>
                  <a:cubicBezTo>
                    <a:pt x="3977" y="1710457"/>
                    <a:pt x="0" y="1700856"/>
                    <a:pt x="0" y="1690845"/>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4" id="4"/>
            <p:cNvSpPr txBox="true"/>
            <p:nvPr/>
          </p:nvSpPr>
          <p:spPr>
            <a:xfrm>
              <a:off x="0" y="-38100"/>
              <a:ext cx="1728591" cy="1766691"/>
            </a:xfrm>
            <a:prstGeom prst="rect">
              <a:avLst/>
            </a:prstGeom>
          </p:spPr>
          <p:txBody>
            <a:bodyPr anchor="ctr" rtlCol="false" tIns="50800" lIns="50800" bIns="50800" rIns="50800"/>
            <a:lstStyle/>
            <a:p>
              <a:pPr algn="ctr">
                <a:lnSpc>
                  <a:spcPts val="2867"/>
                </a:lnSpc>
              </a:pPr>
            </a:p>
          </p:txBody>
        </p:sp>
      </p:grpSp>
      <p:sp>
        <p:nvSpPr>
          <p:cNvPr name="TextBox 5" id="5"/>
          <p:cNvSpPr txBox="true"/>
          <p:nvPr/>
        </p:nvSpPr>
        <p:spPr>
          <a:xfrm rot="0">
            <a:off x="1844567" y="2165273"/>
            <a:ext cx="15094453" cy="1148715"/>
          </a:xfrm>
          <a:prstGeom prst="rect">
            <a:avLst/>
          </a:prstGeom>
        </p:spPr>
        <p:txBody>
          <a:bodyPr anchor="t" rtlCol="false" tIns="0" lIns="0" bIns="0" rIns="0">
            <a:spAutoFit/>
          </a:bodyPr>
          <a:lstStyle/>
          <a:p>
            <a:pPr algn="l">
              <a:lnSpc>
                <a:spcPts val="8880"/>
              </a:lnSpc>
            </a:pPr>
            <a:r>
              <a:rPr lang="en-US" sz="8000" spc="-408" b="true">
                <a:solidFill>
                  <a:srgbClr val="FFFFFF"/>
                </a:solidFill>
                <a:latin typeface="Quicksand Bold"/>
                <a:ea typeface="Quicksand Bold"/>
                <a:cs typeface="Quicksand Bold"/>
                <a:sym typeface="Quicksand Bold"/>
              </a:rPr>
              <a:t>Conclusion</a:t>
            </a:r>
          </a:p>
        </p:txBody>
      </p:sp>
      <p:grpSp>
        <p:nvGrpSpPr>
          <p:cNvPr name="Group 6" id="6"/>
          <p:cNvGrpSpPr/>
          <p:nvPr/>
        </p:nvGrpSpPr>
        <p:grpSpPr>
          <a:xfrm rot="2618915">
            <a:off x="11506576" y="4200050"/>
            <a:ext cx="6563245" cy="11543232"/>
            <a:chOff x="0" y="0"/>
            <a:chExt cx="1728591" cy="3040193"/>
          </a:xfrm>
        </p:grpSpPr>
        <p:sp>
          <p:nvSpPr>
            <p:cNvPr name="Freeform 7" id="7"/>
            <p:cNvSpPr/>
            <p:nvPr/>
          </p:nvSpPr>
          <p:spPr>
            <a:xfrm flipH="false" flipV="false" rot="0">
              <a:off x="0" y="0"/>
              <a:ext cx="1728591" cy="3040193"/>
            </a:xfrm>
            <a:custGeom>
              <a:avLst/>
              <a:gdLst/>
              <a:ahLst/>
              <a:cxnLst/>
              <a:rect r="r" b="b" t="t" l="l"/>
              <a:pathLst>
                <a:path h="3040193" w="1728591">
                  <a:moveTo>
                    <a:pt x="37747" y="0"/>
                  </a:moveTo>
                  <a:lnTo>
                    <a:pt x="1690845" y="0"/>
                  </a:lnTo>
                  <a:cubicBezTo>
                    <a:pt x="1700856" y="0"/>
                    <a:pt x="1710457" y="3977"/>
                    <a:pt x="1717536" y="11056"/>
                  </a:cubicBezTo>
                  <a:cubicBezTo>
                    <a:pt x="1724614" y="18135"/>
                    <a:pt x="1728591" y="27736"/>
                    <a:pt x="1728591" y="37747"/>
                  </a:cubicBezTo>
                  <a:lnTo>
                    <a:pt x="1728591" y="3002446"/>
                  </a:lnTo>
                  <a:cubicBezTo>
                    <a:pt x="1728591" y="3012457"/>
                    <a:pt x="1724614" y="3022058"/>
                    <a:pt x="1717536" y="3029137"/>
                  </a:cubicBezTo>
                  <a:cubicBezTo>
                    <a:pt x="1710457" y="3036216"/>
                    <a:pt x="1700856" y="3040193"/>
                    <a:pt x="1690845" y="3040193"/>
                  </a:cubicBezTo>
                  <a:lnTo>
                    <a:pt x="37747" y="3040193"/>
                  </a:lnTo>
                  <a:cubicBezTo>
                    <a:pt x="27736" y="3040193"/>
                    <a:pt x="18135" y="3036216"/>
                    <a:pt x="11056" y="3029137"/>
                  </a:cubicBezTo>
                  <a:cubicBezTo>
                    <a:pt x="3977" y="3022058"/>
                    <a:pt x="0" y="3012457"/>
                    <a:pt x="0" y="3002446"/>
                  </a:cubicBezTo>
                  <a:lnTo>
                    <a:pt x="0" y="37747"/>
                  </a:lnTo>
                  <a:cubicBezTo>
                    <a:pt x="0" y="27736"/>
                    <a:pt x="3977" y="18135"/>
                    <a:pt x="11056" y="11056"/>
                  </a:cubicBezTo>
                  <a:cubicBezTo>
                    <a:pt x="18135" y="3977"/>
                    <a:pt x="27736" y="0"/>
                    <a:pt x="37747" y="0"/>
                  </a:cubicBezTo>
                  <a:close/>
                </a:path>
              </a:pathLst>
            </a:custGeom>
            <a:solidFill>
              <a:srgbClr val="062B47"/>
            </a:solidFill>
          </p:spPr>
        </p:sp>
        <p:sp>
          <p:nvSpPr>
            <p:cNvPr name="TextBox 8" id="8"/>
            <p:cNvSpPr txBox="true"/>
            <p:nvPr/>
          </p:nvSpPr>
          <p:spPr>
            <a:xfrm>
              <a:off x="0" y="-38100"/>
              <a:ext cx="1728591" cy="3078293"/>
            </a:xfrm>
            <a:prstGeom prst="rect">
              <a:avLst/>
            </a:prstGeom>
          </p:spPr>
          <p:txBody>
            <a:bodyPr anchor="ctr" rtlCol="false" tIns="50800" lIns="50800" bIns="50800" rIns="50800"/>
            <a:lstStyle/>
            <a:p>
              <a:pPr algn="ctr">
                <a:lnSpc>
                  <a:spcPts val="2867"/>
                </a:lnSpc>
              </a:pPr>
            </a:p>
          </p:txBody>
        </p:sp>
      </p:grpSp>
      <p:sp>
        <p:nvSpPr>
          <p:cNvPr name="TextBox 9" id="9"/>
          <p:cNvSpPr txBox="true"/>
          <p:nvPr/>
        </p:nvSpPr>
        <p:spPr>
          <a:xfrm rot="0">
            <a:off x="1844567" y="3580034"/>
            <a:ext cx="14711060" cy="6143625"/>
          </a:xfrm>
          <a:prstGeom prst="rect">
            <a:avLst/>
          </a:prstGeom>
        </p:spPr>
        <p:txBody>
          <a:bodyPr anchor="t" rtlCol="false" tIns="0" lIns="0" bIns="0" rIns="0">
            <a:spAutoFit/>
          </a:bodyPr>
          <a:lstStyle/>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The Google Ads campaign for SkillSpark successfully addressed the problem of low website traffic and course enrollments. By using a well-planned search campaign, targeted keywords, and optimized bidding strategies, the campaign was able to attract the right audience and generate quality leads. The results showed an increase in clicks, conversions, and overall brand</a:t>
            </a:r>
            <a:r>
              <a:rPr lang="en-US" b="true" sz="2400" strike="noStrike" u="none">
                <a:solidFill>
                  <a:srgbClr val="FFFFFF">
                    <a:alpha val="71765"/>
                  </a:srgbClr>
                </a:solidFill>
                <a:latin typeface="Quicksand Bold"/>
                <a:ea typeface="Quicksand Bold"/>
                <a:cs typeface="Quicksand Bold"/>
                <a:sym typeface="Quicksand Bold"/>
              </a:rPr>
              <a:t> v</a:t>
            </a:r>
            <a:r>
              <a:rPr lang="en-US" b="true" sz="2400" strike="noStrike" u="none">
                <a:solidFill>
                  <a:srgbClr val="FFFFFF">
                    <a:alpha val="71765"/>
                  </a:srgbClr>
                </a:solidFill>
                <a:latin typeface="Quicksand Bold"/>
                <a:ea typeface="Quicksand Bold"/>
                <a:cs typeface="Quicksand Bold"/>
                <a:sym typeface="Quicksand Bold"/>
              </a:rPr>
              <a:t>isibility within a short period.</a:t>
            </a:r>
          </a:p>
          <a:p>
            <a:pPr algn="l">
              <a:lnSpc>
                <a:spcPts val="4079"/>
              </a:lnSpc>
            </a:pP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The campaign also demonstrated that high-intent keywords and proper targeting can significantly improve conversion rates and reduce cost per lead. </a:t>
            </a:r>
          </a:p>
          <a:p>
            <a:pPr algn="l">
              <a:lnSpc>
                <a:spcPts val="4079"/>
              </a:lnSpc>
            </a:pPr>
          </a:p>
          <a:p>
            <a:pPr algn="l">
              <a:lnSpc>
                <a:spcPts val="4079"/>
              </a:lnSpc>
            </a:pPr>
            <a:r>
              <a:rPr lang="en-US" b="true" sz="2400" strike="noStrike" u="none">
                <a:solidFill>
                  <a:srgbClr val="FFFFFF">
                    <a:alpha val="71765"/>
                  </a:srgbClr>
                </a:solidFill>
                <a:latin typeface="Quicksand Bold"/>
                <a:ea typeface="Quicksand Bold"/>
                <a:cs typeface="Quicksand Bold"/>
                <a:sym typeface="Quicksand Bold"/>
              </a:rPr>
              <a:t>Overall, the campaign proved to be effective in achieving its objectives and provided valuable insights for future digital advertising strategies.</a:t>
            </a:r>
          </a:p>
          <a:p>
            <a:pPr algn="l">
              <a:lnSpc>
                <a:spcPts val="407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DAHBZoEnDf8</dc:identifier>
  <dcterms:modified xsi:type="dcterms:W3CDTF">2011-08-01T06:04:30Z</dcterms:modified>
  <cp:revision>1</cp:revision>
  <dc:title>Google Ads Campaign</dc:title>
</cp:coreProperties>
</file>